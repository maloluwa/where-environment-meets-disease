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4660"/>
  </p:normalViewPr>
  <p:slideViewPr>
    <p:cSldViewPr snapToGrid="0">
      <p:cViewPr varScale="1">
        <p:scale>
          <a:sx n="44" d="100"/>
          <a:sy n="44" d="100"/>
        </p:scale>
        <p:origin x="52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DD6D9E-B0DC-4114-BBF2-D8F4B5EE2ED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3ED9F24-C114-4602-A3CE-2B738A0DBA4A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Temperature</a:t>
          </a:r>
        </a:p>
      </dgm:t>
    </dgm:pt>
    <dgm:pt modelId="{001A90D1-78F5-47CB-A21F-1617B367551B}" type="parTrans" cxnId="{56FB33D3-1A04-4A3C-B123-78E604DBBC4D}">
      <dgm:prSet/>
      <dgm:spPr/>
      <dgm:t>
        <a:bodyPr/>
        <a:lstStyle/>
        <a:p>
          <a:endParaRPr lang="en-US"/>
        </a:p>
      </dgm:t>
    </dgm:pt>
    <dgm:pt modelId="{E098714B-533C-4B3D-B3F4-B534D1DD2BED}" type="sibTrans" cxnId="{56FB33D3-1A04-4A3C-B123-78E604DBBC4D}">
      <dgm:prSet/>
      <dgm:spPr/>
      <dgm:t>
        <a:bodyPr/>
        <a:lstStyle/>
        <a:p>
          <a:endParaRPr lang="en-US"/>
        </a:p>
      </dgm:t>
    </dgm:pt>
    <dgm:pt modelId="{2E7067E5-ACF6-4814-9B52-D3A77DA06F15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Transmission</a:t>
          </a:r>
        </a:p>
      </dgm:t>
    </dgm:pt>
    <dgm:pt modelId="{C8EF4E20-8D7D-4CA6-9903-FD0CB84E01C4}" type="parTrans" cxnId="{5C7788A6-58CC-4568-A18D-CF1D6E588349}">
      <dgm:prSet/>
      <dgm:spPr/>
      <dgm:t>
        <a:bodyPr/>
        <a:lstStyle/>
        <a:p>
          <a:endParaRPr lang="en-US"/>
        </a:p>
      </dgm:t>
    </dgm:pt>
    <dgm:pt modelId="{8FECE8B0-2060-4182-A58B-1CEE1A366752}" type="sibTrans" cxnId="{5C7788A6-58CC-4568-A18D-CF1D6E588349}">
      <dgm:prSet/>
      <dgm:spPr/>
      <dgm:t>
        <a:bodyPr/>
        <a:lstStyle/>
        <a:p>
          <a:endParaRPr lang="en-US"/>
        </a:p>
      </dgm:t>
    </dgm:pt>
    <dgm:pt modelId="{CF7203BB-330A-41B0-ACB7-E2301302774A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Malaria Prevalence</a:t>
          </a:r>
        </a:p>
      </dgm:t>
    </dgm:pt>
    <dgm:pt modelId="{62C742E5-5E27-4930-AA90-80D294B6D603}" type="parTrans" cxnId="{ED99F3B6-AF57-4AE7-827D-BB438D61DE6C}">
      <dgm:prSet/>
      <dgm:spPr/>
      <dgm:t>
        <a:bodyPr/>
        <a:lstStyle/>
        <a:p>
          <a:endParaRPr lang="en-US"/>
        </a:p>
      </dgm:t>
    </dgm:pt>
    <dgm:pt modelId="{52C8473A-C29C-4A39-8D60-73208CEA479F}" type="sibTrans" cxnId="{ED99F3B6-AF57-4AE7-827D-BB438D61DE6C}">
      <dgm:prSet/>
      <dgm:spPr/>
      <dgm:t>
        <a:bodyPr/>
        <a:lstStyle/>
        <a:p>
          <a:endParaRPr lang="en-US"/>
        </a:p>
      </dgm:t>
    </dgm:pt>
    <dgm:pt modelId="{215990D8-58DA-4D49-8A9D-56D07FC0145F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</a:rPr>
            <a:t>Disease burden</a:t>
          </a:r>
        </a:p>
      </dgm:t>
    </dgm:pt>
    <dgm:pt modelId="{0B339AE7-EDFA-421D-B54B-32359ECF265B}" type="parTrans" cxnId="{9D4CCD03-C5BE-4B0F-805C-0B9AA2D98E7F}">
      <dgm:prSet/>
      <dgm:spPr/>
      <dgm:t>
        <a:bodyPr/>
        <a:lstStyle/>
        <a:p>
          <a:endParaRPr lang="en-US"/>
        </a:p>
      </dgm:t>
    </dgm:pt>
    <dgm:pt modelId="{F4B86CB3-89FC-42AC-93D7-F6FA23A8E5EA}" type="sibTrans" cxnId="{9D4CCD03-C5BE-4B0F-805C-0B9AA2D98E7F}">
      <dgm:prSet/>
      <dgm:spPr/>
      <dgm:t>
        <a:bodyPr/>
        <a:lstStyle/>
        <a:p>
          <a:endParaRPr lang="en-US"/>
        </a:p>
      </dgm:t>
    </dgm:pt>
    <dgm:pt modelId="{2159B8EB-5823-4DAA-9BA4-87242D7BCA93}" type="pres">
      <dgm:prSet presAssocID="{CCDD6D9E-B0DC-4114-BBF2-D8F4B5EE2ED7}" presName="CompostProcess" presStyleCnt="0">
        <dgm:presLayoutVars>
          <dgm:dir/>
          <dgm:resizeHandles val="exact"/>
        </dgm:presLayoutVars>
      </dgm:prSet>
      <dgm:spPr/>
    </dgm:pt>
    <dgm:pt modelId="{0BBF187E-52CE-4C5E-A66C-03159804EFBE}" type="pres">
      <dgm:prSet presAssocID="{CCDD6D9E-B0DC-4114-BBF2-D8F4B5EE2ED7}" presName="arrow" presStyleLbl="bgShp" presStyleIdx="0" presStyleCnt="1"/>
      <dgm:spPr/>
    </dgm:pt>
    <dgm:pt modelId="{144131C0-6271-4956-BC4E-5ABEECA1B1DC}" type="pres">
      <dgm:prSet presAssocID="{CCDD6D9E-B0DC-4114-BBF2-D8F4B5EE2ED7}" presName="linearProcess" presStyleCnt="0"/>
      <dgm:spPr/>
    </dgm:pt>
    <dgm:pt modelId="{A8502997-F4BE-44F5-9301-BECAEFB18FA6}" type="pres">
      <dgm:prSet presAssocID="{D3ED9F24-C114-4602-A3CE-2B738A0DBA4A}" presName="textNode" presStyleLbl="node1" presStyleIdx="0" presStyleCnt="4">
        <dgm:presLayoutVars>
          <dgm:bulletEnabled val="1"/>
        </dgm:presLayoutVars>
      </dgm:prSet>
      <dgm:spPr/>
    </dgm:pt>
    <dgm:pt modelId="{F05D2B21-8275-4DB6-B4C1-3398AE1D33DD}" type="pres">
      <dgm:prSet presAssocID="{E098714B-533C-4B3D-B3F4-B534D1DD2BED}" presName="sibTrans" presStyleCnt="0"/>
      <dgm:spPr/>
    </dgm:pt>
    <dgm:pt modelId="{FBD7F97C-E509-4474-8CED-4AB9ACD33080}" type="pres">
      <dgm:prSet presAssocID="{2E7067E5-ACF6-4814-9B52-D3A77DA06F15}" presName="textNode" presStyleLbl="node1" presStyleIdx="1" presStyleCnt="4">
        <dgm:presLayoutVars>
          <dgm:bulletEnabled val="1"/>
        </dgm:presLayoutVars>
      </dgm:prSet>
      <dgm:spPr/>
    </dgm:pt>
    <dgm:pt modelId="{427A3C70-BC7B-46F4-9288-4B0E108B45FC}" type="pres">
      <dgm:prSet presAssocID="{8FECE8B0-2060-4182-A58B-1CEE1A366752}" presName="sibTrans" presStyleCnt="0"/>
      <dgm:spPr/>
    </dgm:pt>
    <dgm:pt modelId="{30B9B540-0587-4678-A8EB-B948124413D2}" type="pres">
      <dgm:prSet presAssocID="{CF7203BB-330A-41B0-ACB7-E2301302774A}" presName="textNode" presStyleLbl="node1" presStyleIdx="2" presStyleCnt="4">
        <dgm:presLayoutVars>
          <dgm:bulletEnabled val="1"/>
        </dgm:presLayoutVars>
      </dgm:prSet>
      <dgm:spPr/>
    </dgm:pt>
    <dgm:pt modelId="{229D4F9C-E723-479B-9256-E86E6A4A3874}" type="pres">
      <dgm:prSet presAssocID="{52C8473A-C29C-4A39-8D60-73208CEA479F}" presName="sibTrans" presStyleCnt="0"/>
      <dgm:spPr/>
    </dgm:pt>
    <dgm:pt modelId="{9DFB29C9-170D-4BEC-9AEB-056055B096E5}" type="pres">
      <dgm:prSet presAssocID="{215990D8-58DA-4D49-8A9D-56D07FC0145F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D4CCD03-C5BE-4B0F-805C-0B9AA2D98E7F}" srcId="{CCDD6D9E-B0DC-4114-BBF2-D8F4B5EE2ED7}" destId="{215990D8-58DA-4D49-8A9D-56D07FC0145F}" srcOrd="3" destOrd="0" parTransId="{0B339AE7-EDFA-421D-B54B-32359ECF265B}" sibTransId="{F4B86CB3-89FC-42AC-93D7-F6FA23A8E5EA}"/>
    <dgm:cxn modelId="{A2CCAD2C-1F21-486F-8D74-1EC12A664ABB}" type="presOf" srcId="{D3ED9F24-C114-4602-A3CE-2B738A0DBA4A}" destId="{A8502997-F4BE-44F5-9301-BECAEFB18FA6}" srcOrd="0" destOrd="0" presId="urn:microsoft.com/office/officeart/2005/8/layout/hProcess9"/>
    <dgm:cxn modelId="{28E38253-B3BE-4366-A841-5216B569EF10}" type="presOf" srcId="{CCDD6D9E-B0DC-4114-BBF2-D8F4B5EE2ED7}" destId="{2159B8EB-5823-4DAA-9BA4-87242D7BCA93}" srcOrd="0" destOrd="0" presId="urn:microsoft.com/office/officeart/2005/8/layout/hProcess9"/>
    <dgm:cxn modelId="{5C7788A6-58CC-4568-A18D-CF1D6E588349}" srcId="{CCDD6D9E-B0DC-4114-BBF2-D8F4B5EE2ED7}" destId="{2E7067E5-ACF6-4814-9B52-D3A77DA06F15}" srcOrd="1" destOrd="0" parTransId="{C8EF4E20-8D7D-4CA6-9903-FD0CB84E01C4}" sibTransId="{8FECE8B0-2060-4182-A58B-1CEE1A366752}"/>
    <dgm:cxn modelId="{ED99F3B6-AF57-4AE7-827D-BB438D61DE6C}" srcId="{CCDD6D9E-B0DC-4114-BBF2-D8F4B5EE2ED7}" destId="{CF7203BB-330A-41B0-ACB7-E2301302774A}" srcOrd="2" destOrd="0" parTransId="{62C742E5-5E27-4930-AA90-80D294B6D603}" sibTransId="{52C8473A-C29C-4A39-8D60-73208CEA479F}"/>
    <dgm:cxn modelId="{56FB33D3-1A04-4A3C-B123-78E604DBBC4D}" srcId="{CCDD6D9E-B0DC-4114-BBF2-D8F4B5EE2ED7}" destId="{D3ED9F24-C114-4602-A3CE-2B738A0DBA4A}" srcOrd="0" destOrd="0" parTransId="{001A90D1-78F5-47CB-A21F-1617B367551B}" sibTransId="{E098714B-533C-4B3D-B3F4-B534D1DD2BED}"/>
    <dgm:cxn modelId="{949A02DC-4CD3-45F1-A8AA-D4EDB2EDD1AA}" type="presOf" srcId="{215990D8-58DA-4D49-8A9D-56D07FC0145F}" destId="{9DFB29C9-170D-4BEC-9AEB-056055B096E5}" srcOrd="0" destOrd="0" presId="urn:microsoft.com/office/officeart/2005/8/layout/hProcess9"/>
    <dgm:cxn modelId="{9E3FB5DD-5A01-4E07-A660-16F03E10DB2C}" type="presOf" srcId="{CF7203BB-330A-41B0-ACB7-E2301302774A}" destId="{30B9B540-0587-4678-A8EB-B948124413D2}" srcOrd="0" destOrd="0" presId="urn:microsoft.com/office/officeart/2005/8/layout/hProcess9"/>
    <dgm:cxn modelId="{4C6502FE-6F85-4E8D-8F32-2DAC2934CF90}" type="presOf" srcId="{2E7067E5-ACF6-4814-9B52-D3A77DA06F15}" destId="{FBD7F97C-E509-4474-8CED-4AB9ACD33080}" srcOrd="0" destOrd="0" presId="urn:microsoft.com/office/officeart/2005/8/layout/hProcess9"/>
    <dgm:cxn modelId="{1283F799-FCDB-4C25-B470-F36A820851CD}" type="presParOf" srcId="{2159B8EB-5823-4DAA-9BA4-87242D7BCA93}" destId="{0BBF187E-52CE-4C5E-A66C-03159804EFBE}" srcOrd="0" destOrd="0" presId="urn:microsoft.com/office/officeart/2005/8/layout/hProcess9"/>
    <dgm:cxn modelId="{D0C63347-E579-4FAC-B946-999612AC1F4B}" type="presParOf" srcId="{2159B8EB-5823-4DAA-9BA4-87242D7BCA93}" destId="{144131C0-6271-4956-BC4E-5ABEECA1B1DC}" srcOrd="1" destOrd="0" presId="urn:microsoft.com/office/officeart/2005/8/layout/hProcess9"/>
    <dgm:cxn modelId="{E79CD237-03EA-4B43-AD54-06E7EECF6491}" type="presParOf" srcId="{144131C0-6271-4956-BC4E-5ABEECA1B1DC}" destId="{A8502997-F4BE-44F5-9301-BECAEFB18FA6}" srcOrd="0" destOrd="0" presId="urn:microsoft.com/office/officeart/2005/8/layout/hProcess9"/>
    <dgm:cxn modelId="{BA5CEBEF-185A-48AC-9F14-108402188684}" type="presParOf" srcId="{144131C0-6271-4956-BC4E-5ABEECA1B1DC}" destId="{F05D2B21-8275-4DB6-B4C1-3398AE1D33DD}" srcOrd="1" destOrd="0" presId="urn:microsoft.com/office/officeart/2005/8/layout/hProcess9"/>
    <dgm:cxn modelId="{21D88D30-FBC9-4A18-9BB6-5336F4DD18EB}" type="presParOf" srcId="{144131C0-6271-4956-BC4E-5ABEECA1B1DC}" destId="{FBD7F97C-E509-4474-8CED-4AB9ACD33080}" srcOrd="2" destOrd="0" presId="urn:microsoft.com/office/officeart/2005/8/layout/hProcess9"/>
    <dgm:cxn modelId="{5E7C37E7-729B-483B-B0C1-5695A278DFD5}" type="presParOf" srcId="{144131C0-6271-4956-BC4E-5ABEECA1B1DC}" destId="{427A3C70-BC7B-46F4-9288-4B0E108B45FC}" srcOrd="3" destOrd="0" presId="urn:microsoft.com/office/officeart/2005/8/layout/hProcess9"/>
    <dgm:cxn modelId="{43BD77DE-3F8F-44AC-8806-1CF9759FEDA2}" type="presParOf" srcId="{144131C0-6271-4956-BC4E-5ABEECA1B1DC}" destId="{30B9B540-0587-4678-A8EB-B948124413D2}" srcOrd="4" destOrd="0" presId="urn:microsoft.com/office/officeart/2005/8/layout/hProcess9"/>
    <dgm:cxn modelId="{793E778D-7617-4E91-A5DE-3D495D2D586F}" type="presParOf" srcId="{144131C0-6271-4956-BC4E-5ABEECA1B1DC}" destId="{229D4F9C-E723-479B-9256-E86E6A4A3874}" srcOrd="5" destOrd="0" presId="urn:microsoft.com/office/officeart/2005/8/layout/hProcess9"/>
    <dgm:cxn modelId="{06EF109B-A1FF-4CBA-93EA-EC8A98FA6169}" type="presParOf" srcId="{144131C0-6271-4956-BC4E-5ABEECA1B1DC}" destId="{9DFB29C9-170D-4BEC-9AEB-056055B096E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F187E-52CE-4C5E-A66C-03159804EFBE}">
      <dsp:nvSpPr>
        <dsp:cNvPr id="0" name=""/>
        <dsp:cNvSpPr/>
      </dsp:nvSpPr>
      <dsp:spPr>
        <a:xfrm>
          <a:off x="707435" y="0"/>
          <a:ext cx="8017600" cy="173072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02997-F4BE-44F5-9301-BECAEFB18FA6}">
      <dsp:nvSpPr>
        <dsp:cNvPr id="0" name=""/>
        <dsp:cNvSpPr/>
      </dsp:nvSpPr>
      <dsp:spPr>
        <a:xfrm>
          <a:off x="3223" y="519215"/>
          <a:ext cx="2094671" cy="6922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Temperature</a:t>
          </a:r>
        </a:p>
      </dsp:txBody>
      <dsp:txXfrm>
        <a:off x="37018" y="553010"/>
        <a:ext cx="2027081" cy="624698"/>
      </dsp:txXfrm>
    </dsp:sp>
    <dsp:sp modelId="{FBD7F97C-E509-4474-8CED-4AB9ACD33080}">
      <dsp:nvSpPr>
        <dsp:cNvPr id="0" name=""/>
        <dsp:cNvSpPr/>
      </dsp:nvSpPr>
      <dsp:spPr>
        <a:xfrm>
          <a:off x="2447007" y="519215"/>
          <a:ext cx="2094671" cy="6922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Transmission</a:t>
          </a:r>
        </a:p>
      </dsp:txBody>
      <dsp:txXfrm>
        <a:off x="2480802" y="553010"/>
        <a:ext cx="2027081" cy="624698"/>
      </dsp:txXfrm>
    </dsp:sp>
    <dsp:sp modelId="{30B9B540-0587-4678-A8EB-B948124413D2}">
      <dsp:nvSpPr>
        <dsp:cNvPr id="0" name=""/>
        <dsp:cNvSpPr/>
      </dsp:nvSpPr>
      <dsp:spPr>
        <a:xfrm>
          <a:off x="4890791" y="519215"/>
          <a:ext cx="2094671" cy="6922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Malaria Prevalence</a:t>
          </a:r>
        </a:p>
      </dsp:txBody>
      <dsp:txXfrm>
        <a:off x="4924586" y="553010"/>
        <a:ext cx="2027081" cy="624698"/>
      </dsp:txXfrm>
    </dsp:sp>
    <dsp:sp modelId="{9DFB29C9-170D-4BEC-9AEB-056055B096E5}">
      <dsp:nvSpPr>
        <dsp:cNvPr id="0" name=""/>
        <dsp:cNvSpPr/>
      </dsp:nvSpPr>
      <dsp:spPr>
        <a:xfrm>
          <a:off x="7334575" y="519215"/>
          <a:ext cx="2094671" cy="6922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Disease burden</a:t>
          </a:r>
        </a:p>
      </dsp:txBody>
      <dsp:txXfrm>
        <a:off x="7368370" y="553010"/>
        <a:ext cx="2027081" cy="624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E1EC-1B2F-4A33-B47B-7165B09FA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65CD5-AD2F-4329-843E-11B517D4D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DC5A-F738-4167-B585-CC7C0E47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8D9F4-A204-402D-8E95-C904B003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09608-D145-4EA4-9C9D-9C1398B6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9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AD5B-016B-4395-924C-C0C0C48F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CA2A3-8075-49E5-98E5-68EFCE16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908C-A9F4-4F7A-8F8F-FFA4950B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B154E-0A91-4F86-8CE4-D5E9A3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0BE68-CAF4-42AE-BEE8-ABA77798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8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9219-3D58-44D3-BD3C-6703AD2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7DA35-4475-4E57-AF34-94F98146D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D689A-3B83-4426-BC17-F6AF1667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CA470-AD94-41AA-AEEA-0EE347F8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B3599-1D0D-4CC1-B352-173CBDA9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3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1A6E-9C3D-40EB-98FB-8E5B7D0D3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1B7D5-1F1E-4F17-94EB-3FC365EAE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88995-0D89-4CDB-8E3C-67C23FE7B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7E990-8A0B-4D3D-A006-61360E67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9B5EB-E150-453C-93B5-7AA1B8AD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6588C-0EBC-49DD-8CDA-565C8439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8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A835-FF26-4724-9A18-6E4462D59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5FC6B-C6AA-4C10-B602-CC9EC91FE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F134D-6D3E-4E32-9665-418E62845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03B9D-8500-413D-8F47-8EF93F36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C3A57-860C-47E8-9CE1-AB30FE326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56A4E-120F-497A-8B99-13DBEFA6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0DEB0-40E4-4EC1-8302-26FEE962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5FB50-B29F-41C3-98E6-B5ED7285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AAB7-77B8-40D2-B3F3-D89DB436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22955-E624-404D-9F39-B476BE1F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00E5C-1C3D-47BE-A662-20E43CCB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956EA-8E10-49EC-A857-B2A5B1D8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EF2D6-371C-43D5-BB0F-04917468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B1032-464C-4E2C-B9D2-E3BDC523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07AE0-11E0-4B74-9D3C-65288D89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EE71-3FCB-446E-AC95-AB9BA5DD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4626-5B13-46C1-8957-87EC76DB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AEEF9-C4AA-4E3D-9B3C-39091D6EB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37F78-3BAC-428F-8105-D8FE1182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E55DA-26F0-4BB9-93C1-A6D1809A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45911-434A-404E-8625-0F4C0373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6027-F168-4532-907A-42AFCA39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E1A28-D47E-4089-BE6F-6E5285C6B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59B0F-72A3-45D0-A74F-10F55A132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FC55A-21E2-46BC-B162-7AA400B5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9B765-C5C8-400C-897E-9244A7CE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A497B-D4AB-4C6B-9637-177F54A2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8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5589-AD41-4469-9F79-09E4C4A6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96C80-E348-43EC-B7AE-CAF7CC982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5347-00CE-417C-908F-2B2C6663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2FAC2-0B94-4877-B8F4-2586758D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208FD-9E92-4D36-8792-EE5762F3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4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326B7-D853-4EF4-817F-DB797CABE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2BFA2-1AD8-4E2C-AE65-BB5A3C69A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FC562-BEAE-4A26-AC39-880AA31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AE1E-7E05-48AC-89E3-CF5E30F4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0C166-B3A2-453C-B255-1130AA41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8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A1DA9-95AD-49A6-BE2D-3F379984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A7912-1B5C-4D22-991C-98038EC22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80960-4DF2-46EB-866C-8A9B62074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1A358-2C3A-40BD-B473-BAEDDC61DB3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D98BF-687A-425A-9A9F-C6F7FA0C8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3C133-352F-42B5-89D2-9C2A9674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4E58-1276-4BC6-B239-BAB49B2A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9770-B608-4418-92F2-1ADE57E75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699344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Where Environment Meets Disease: </a:t>
            </a:r>
            <a:r>
              <a:rPr lang="en-US" sz="5300" b="1" dirty="0"/>
              <a:t>“</a:t>
            </a:r>
            <a:r>
              <a:rPr lang="en-US" sz="5300" b="1" i="1" dirty="0"/>
              <a:t>A Bivariate Analysis of Malaria in Nigeria</a:t>
            </a:r>
            <a:r>
              <a:rPr lang="en-US" sz="5300" b="1" dirty="0"/>
              <a:t>”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C5C89-C097-461F-9FCF-EA1268F2D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885" y="3509963"/>
            <a:ext cx="9815458" cy="1655762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</a:rPr>
              <a:t>Tiwa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Daodu </a:t>
            </a:r>
          </a:p>
        </p:txBody>
      </p:sp>
    </p:spTree>
    <p:extLst>
      <p:ext uri="{BB962C8B-B14F-4D97-AF65-F5344CB8AC3E}">
        <p14:creationId xmlns:p14="http://schemas.microsoft.com/office/powerpoint/2010/main" val="295680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99D4-F1D7-4FE4-8FA4-B895A09C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Introduction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1414-8889-4F4C-B93B-9EBF2CED2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1825625"/>
            <a:ext cx="5613400" cy="31984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Why temperature?</a:t>
            </a:r>
          </a:p>
          <a:p>
            <a:r>
              <a:rPr lang="en-US" dirty="0"/>
              <a:t>Malaria transmission increases within an optimal temperature range (about 20–30°C), where both mosquito activity and parasite development are most efficient.</a:t>
            </a:r>
          </a:p>
          <a:p>
            <a:r>
              <a:rPr lang="en-US" dirty="0"/>
              <a:t>The pattern between the environmental factor (temperature) and malaria would be displayed via a bivariate map.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866B2-5AB6-4757-B109-1D6BF67C3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02086" cy="31984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bivariate map visualizes two variables at once to highlight spatial relationships and interactions between them.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Working Assumption:</a:t>
            </a:r>
          </a:p>
          <a:p>
            <a:pPr marL="0" indent="0">
              <a:buNone/>
            </a:pPr>
            <a:r>
              <a:rPr lang="en-US" dirty="0"/>
              <a:t>Areas with higher temperatures are expected to show higher malaria prevalence due to more favorable conditions for mosquito breeding and parasite development.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A7B1733-76E7-46AB-8C0A-2F9B20508F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5879766"/>
              </p:ext>
            </p:extLst>
          </p:nvPr>
        </p:nvGraphicFramePr>
        <p:xfrm>
          <a:off x="1714499" y="5040697"/>
          <a:ext cx="9432471" cy="173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94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C7E4B-8084-43DA-B72F-A9A95C31B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2143" y="493486"/>
            <a:ext cx="4561114" cy="568347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northern states exhibited the highest malaria prevalence levels, indicating significant malaria burden compared to the south states.</a:t>
            </a:r>
          </a:p>
          <a:p>
            <a:r>
              <a:rPr lang="en-US" dirty="0"/>
              <a:t>Kebbi and Yobe had the highest levels </a:t>
            </a:r>
          </a:p>
          <a:p>
            <a:r>
              <a:rPr lang="en-US" dirty="0"/>
              <a:t>In contrast, states like Lagos and </a:t>
            </a:r>
            <a:r>
              <a:rPr lang="en-US" dirty="0" err="1"/>
              <a:t>Kwara</a:t>
            </a:r>
            <a:r>
              <a:rPr lang="en-US" dirty="0"/>
              <a:t> showed relatively low prevalence, suggesting lower transmission levels in these regions.</a:t>
            </a:r>
          </a:p>
          <a:p>
            <a:r>
              <a:rPr lang="en-US" dirty="0"/>
              <a:t>These variations may be influenced by factors such as environmental conditions, population distribution, and access to healthcare services.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4F0F5E-B506-45F5-960D-8CEF814E2B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57" y="232230"/>
            <a:ext cx="7086600" cy="6132284"/>
          </a:xfrm>
        </p:spPr>
      </p:pic>
    </p:spTree>
    <p:extLst>
      <p:ext uri="{BB962C8B-B14F-4D97-AF65-F5344CB8AC3E}">
        <p14:creationId xmlns:p14="http://schemas.microsoft.com/office/powerpoint/2010/main" val="344677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6B7127-6C38-434E-BD91-929703616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987" y="457200"/>
            <a:ext cx="6925849" cy="598714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01171-A0DA-4E35-BD0C-B1AD68D1A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514" y="566057"/>
            <a:ext cx="4249511" cy="587828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dominance of “high–high” combinations in the north suggests a positive spatial association between temperature and malaria prevalence.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An outlier, </a:t>
            </a:r>
            <a:r>
              <a:rPr lang="en-US" sz="2200" dirty="0" err="1"/>
              <a:t>Borno</a:t>
            </a:r>
            <a:r>
              <a:rPr lang="en-US" sz="2200" dirty="0"/>
              <a:t>, showed relatively low malaria prevalence despite experiencing high temperatures similar to other northern states with high malaria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Several factors could explain this;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 An arid climate may limit mosquito breeding habitats.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Ongoing security challenges may affect population movement and healthcare access</a:t>
            </a:r>
          </a:p>
        </p:txBody>
      </p:sp>
    </p:spTree>
    <p:extLst>
      <p:ext uri="{BB962C8B-B14F-4D97-AF65-F5344CB8AC3E}">
        <p14:creationId xmlns:p14="http://schemas.microsoft.com/office/powerpoint/2010/main" val="171043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E68E19-3215-4DD3-8572-4C0F025FB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432935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Conclusion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C961-E8B0-4851-A6E4-11CD7E8BB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1689781"/>
            <a:ext cx="5157787" cy="3684588"/>
          </a:xfrm>
        </p:spPr>
        <p:txBody>
          <a:bodyPr/>
          <a:lstStyle/>
          <a:p>
            <a:r>
              <a:rPr lang="en-US" dirty="0"/>
              <a:t>Other factors such as availability of healthcare facilities, healthcare access, population density, water management, poverty also play a role in malaria prevalence</a:t>
            </a:r>
            <a:r>
              <a:rPr lang="en-US"/>
              <a:t>. 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2437D0-BEAC-420F-AF90-44B08DAC4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6656" y="2605088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sz="5400" i="1" dirty="0">
                <a:latin typeface="Blackadder ITC" panose="04020505051007020D02" pitchFamily="82" charset="0"/>
              </a:rPr>
              <a:t>Thank you </a:t>
            </a: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F5C63F15-3108-4A74-9C17-06B8F2AD67C6}"/>
              </a:ext>
            </a:extLst>
          </p:cNvPr>
          <p:cNvSpPr/>
          <p:nvPr/>
        </p:nvSpPr>
        <p:spPr>
          <a:xfrm>
            <a:off x="2946400" y="5694952"/>
            <a:ext cx="4981940" cy="697230"/>
          </a:xfrm>
          <a:prstGeom prst="mathMinu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7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Blackadder ITC</vt:lpstr>
      <vt:lpstr>Calibri</vt:lpstr>
      <vt:lpstr>Calibri Light</vt:lpstr>
      <vt:lpstr>Office Theme</vt:lpstr>
      <vt:lpstr>Where Environment Meets Disease: “A Bivariate Analysis of Malaria in Nigeria”</vt:lpstr>
      <vt:lpstr>Introduction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ENIRONMENTAL DRIVERS OF MALARIA</dc:title>
  <dc:creator>Tiwaloluwa Daodu</dc:creator>
  <cp:lastModifiedBy>Tiwaloluwa Daodu</cp:lastModifiedBy>
  <cp:revision>23</cp:revision>
  <dcterms:created xsi:type="dcterms:W3CDTF">2026-03-18T22:00:42Z</dcterms:created>
  <dcterms:modified xsi:type="dcterms:W3CDTF">2026-03-23T19:16:32Z</dcterms:modified>
</cp:coreProperties>
</file>